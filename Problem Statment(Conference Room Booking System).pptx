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5598-1427-9BB5-46BF-C5B616467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6B734-B8B7-95F5-3075-06950222F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9D2DD-55F0-FA14-25D7-927E5FA17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1E83B-FD76-F0B6-49CB-51B48500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3C849-E347-703E-3AF7-AC941B76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71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F373-72AC-D402-FCE3-95BBFC61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FCF3-1B1A-C773-CE5F-A95964D0B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8A86E-3B05-24A8-E5AF-C0BFB3A2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8271C-9951-7AB5-94C8-81D047E5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17693-FDD6-FF95-886C-02A2C1C6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69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49F4B-8C18-B6C9-BF83-C2EF3EDC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9A5CF-CC16-B696-82FF-655A7284A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A7E7E-AB2E-B3B3-5D2A-279FA64D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CB56A-23D6-2F99-169B-BF7D4386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2642B-A794-0394-1C17-4F822F1EC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4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B67E-42B5-C400-BEAE-68E7BC83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0991A-A38B-8F0B-CEF9-DBA3F5E8E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FDB1C-3DCC-E88B-2E18-85D7C0EE5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0B701-E040-0797-B651-5991878C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0EA46-0D21-54C8-4043-4C042C97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719B7-28DC-CB94-3986-53EE91DE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46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08C9-B39E-C768-600B-A1985A19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BD91C-AB5B-7923-D51E-9BB17AF5B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22135-0192-1658-8FD6-06CE1D2ED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83959-8274-F2FE-11A3-F02F97EB5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3B398-7C4F-8145-B74C-118DD1C8D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877A68-91C1-88AE-1CD0-43C7619A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4AA29-B892-401A-FBB9-411DC8F1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17F214-B6A0-AC23-4395-BB24563B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29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6C81-EA25-B95F-57CF-1555F3D4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BA44F-E670-5F2E-B580-72D8F1C1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A8EE1-0C1A-B5EA-CB33-133D4A40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F55DD-6F9A-C2FD-100D-165F4FA3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51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D66B7-5C04-A178-CF38-B881F48E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7D8B96-3DA7-61F7-3099-416F82ED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4478E-C3A5-C2F4-B22E-D10FB252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76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1427-9659-D439-0336-E90F87778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18BB9-16D0-73B8-E360-7C510E41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BE63D-20FC-3E34-F7CB-6C0B94AEF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5743C-61D7-5DAA-D926-E51081BF8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A41F5-1867-E2E4-7D06-D4CAFA272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D5D3F-21C9-1898-843E-56F905FD1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18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81B6-BF14-A480-60A7-A5EA67AF8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B992D-03A4-AADC-8338-F7E36E92B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4AB53-941F-D100-24E7-E4B88DEBA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16689-3DAA-535F-BFB6-EF3F0408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32BA1-2716-4C7D-6371-CE26CCA7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810FD-23DC-08FA-EBF2-27E45B2D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18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E99C-25C9-8B5B-A904-7BD62980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1ECF7-7178-68AC-CB3A-BFFFCAF5C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6E0BA-0D28-5CA5-940A-07E75B564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5B143-006C-DADE-37F6-795D0D48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D3FDA-B799-B27A-DE6A-C0DB5019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88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C6BCC3-9E4B-D8F2-81F6-9E499CAEB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D72C1-0CF9-C1A1-49D5-2DEDF6E6A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7562C-A90C-9D07-954A-D0D80FBD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B3C20-6609-0192-EA62-0B615223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F7151-B58A-5D29-BF0D-4C13081E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34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77E21C-6D74-8872-97EE-35AF80D8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B0A3B-74E2-E1A9-5431-81CAA5BBD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59DEF-E309-B0DD-EB6E-B63A150DC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B2461-7395-423A-97B5-8A5514267375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6ABFE-B2C3-5E7D-1486-32260E754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A83F5-D1AE-7DA5-DC3B-1B7F4CEFD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2B363-3F6B-4C76-8A0F-D4A3F712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06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D28E-207F-EA2C-D739-FD94ED482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817429" cy="58669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BRD, Epics &amp; User Stories: A Business Analysis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445DC-F55F-173E-2547-8BC0AD85C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0343" y="2231573"/>
            <a:ext cx="9144000" cy="1655762"/>
          </a:xfr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i="1" dirty="0">
                <a:solidFill>
                  <a:schemeClr val="accent1"/>
                </a:solidFill>
              </a:rPr>
              <a:t>An overview of Business Requirement Documents (BRD), Epics, User Stories, and how business requirements are transformed into actionable development tasks.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76C58-C162-5904-FB25-26A0717B11F1}"/>
              </a:ext>
            </a:extLst>
          </p:cNvPr>
          <p:cNvSpPr txBox="1"/>
          <p:nvPr/>
        </p:nvSpPr>
        <p:spPr>
          <a:xfrm>
            <a:off x="1523999" y="4211639"/>
            <a:ext cx="100148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00B0F0"/>
                </a:solidFill>
              </a:rPr>
              <a:t>Key Topics  :                         </a:t>
            </a:r>
            <a:br>
              <a:rPr lang="en-IN" sz="2400" b="1" dirty="0"/>
            </a:br>
            <a:r>
              <a:rPr lang="en-IN" sz="2400" b="1" dirty="0"/>
              <a:t>                                           </a:t>
            </a:r>
            <a:r>
              <a:rPr lang="en-IN" b="1" dirty="0"/>
              <a:t>1. </a:t>
            </a:r>
            <a:r>
              <a:rPr lang="en-IN" sz="1600" i="1" dirty="0"/>
              <a:t>Understanding   Business Requirement Document (BRD)   </a:t>
            </a:r>
          </a:p>
          <a:p>
            <a:pPr lvl="0"/>
            <a:r>
              <a:rPr lang="en-IN" sz="1600" i="1" dirty="0"/>
              <a:t>                                                                       </a:t>
            </a:r>
            <a:r>
              <a:rPr lang="en-IN" i="1" dirty="0"/>
              <a:t>  </a:t>
            </a:r>
            <a:r>
              <a:rPr lang="en-IN" b="1" i="1" dirty="0"/>
              <a:t>2.</a:t>
            </a:r>
            <a:r>
              <a:rPr lang="en-IN" sz="1600" i="1" dirty="0"/>
              <a:t>Understanding Epics and their purpose </a:t>
            </a:r>
          </a:p>
          <a:p>
            <a:pPr lvl="0"/>
            <a:r>
              <a:rPr lang="en-IN" sz="1600" b="1" dirty="0"/>
              <a:t>                                                                         </a:t>
            </a:r>
            <a:r>
              <a:rPr lang="en-IN" b="1" dirty="0"/>
              <a:t>3</a:t>
            </a:r>
            <a:r>
              <a:rPr lang="en-IN" sz="1600" b="1" dirty="0"/>
              <a:t>.</a:t>
            </a:r>
            <a:r>
              <a:rPr lang="en-IN" sz="1600" i="1" dirty="0"/>
              <a:t>Understanding User Stories and their structure </a:t>
            </a:r>
          </a:p>
          <a:p>
            <a:pPr lvl="0"/>
            <a:r>
              <a:rPr lang="en-IN" sz="1600" b="1" dirty="0"/>
              <a:t>                                                                        </a:t>
            </a:r>
            <a:r>
              <a:rPr lang="en-IN" b="1" dirty="0"/>
              <a:t> 4.</a:t>
            </a:r>
            <a:r>
              <a:rPr lang="en-IN" sz="1600" i="1" dirty="0"/>
              <a:t>Relationship between BRD → Epic → User Story → Task </a:t>
            </a:r>
          </a:p>
          <a:p>
            <a:pPr lvl="0"/>
            <a:r>
              <a:rPr lang="en-IN" sz="1600" b="1" i="1" dirty="0"/>
              <a:t>                                                                        </a:t>
            </a:r>
            <a:r>
              <a:rPr lang="en-IN" b="1" i="1" dirty="0"/>
              <a:t> 5. </a:t>
            </a:r>
            <a:r>
              <a:rPr lang="en-IN" sz="1600" i="1" dirty="0"/>
              <a:t>Example of converting a business requirement into actionable work</a:t>
            </a:r>
          </a:p>
          <a:p>
            <a:endParaRPr lang="en-IN" sz="2400" b="1" dirty="0"/>
          </a:p>
        </p:txBody>
      </p:sp>
      <p:pic>
        <p:nvPicPr>
          <p:cNvPr id="7" name="Picture 6" descr="🚀 BRD vs User Stories – Which is More Effective? | Arun Paulose">
            <a:extLst>
              <a:ext uri="{FF2B5EF4-FFF2-40B4-BE49-F238E27FC236}">
                <a16:creationId xmlns:a16="http://schemas.microsoft.com/office/drawing/2014/main" id="{4FBCD2ED-6F82-7D31-88AF-5CF554737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372" y="55562"/>
            <a:ext cx="1422400" cy="4527323"/>
          </a:xfrm>
          <a:prstGeom prst="rect">
            <a:avLst/>
          </a:prstGeom>
        </p:spPr>
      </p:pic>
      <p:pic>
        <p:nvPicPr>
          <p:cNvPr id="8" name="Picture 7" descr="Requirements Illustration Images, Free Download">
            <a:extLst>
              <a:ext uri="{FF2B5EF4-FFF2-40B4-BE49-F238E27FC236}">
                <a16:creationId xmlns:a16="http://schemas.microsoft.com/office/drawing/2014/main" id="{B141487B-B205-775D-C234-0D3FC1045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814" y="4864201"/>
            <a:ext cx="1655762" cy="1655762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C5DCDE74-3D4E-FA8C-48E9-E9B501C8D447}"/>
              </a:ext>
            </a:extLst>
          </p:cNvPr>
          <p:cNvSpPr/>
          <p:nvPr/>
        </p:nvSpPr>
        <p:spPr>
          <a:xfrm>
            <a:off x="3780972" y="5236029"/>
            <a:ext cx="500743" cy="3374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764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B885-F174-6F1B-5E8D-ED042429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Overview Of Requirements: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F71A12F-A049-A8D3-EF80-60D70D3B6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437005"/>
              </p:ext>
            </p:extLst>
          </p:nvPr>
        </p:nvGraphicFramePr>
        <p:xfrm>
          <a:off x="1240971" y="1542599"/>
          <a:ext cx="9710058" cy="4811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516">
                  <a:extLst>
                    <a:ext uri="{9D8B030D-6E8A-4147-A177-3AD203B41FA5}">
                      <a16:colId xmlns:a16="http://schemas.microsoft.com/office/drawing/2014/main" val="1833873982"/>
                    </a:ext>
                  </a:extLst>
                </a:gridCol>
                <a:gridCol w="2442453">
                  <a:extLst>
                    <a:ext uri="{9D8B030D-6E8A-4147-A177-3AD203B41FA5}">
                      <a16:colId xmlns:a16="http://schemas.microsoft.com/office/drawing/2014/main" val="3898869906"/>
                    </a:ext>
                  </a:extLst>
                </a:gridCol>
                <a:gridCol w="2410085">
                  <a:extLst>
                    <a:ext uri="{9D8B030D-6E8A-4147-A177-3AD203B41FA5}">
                      <a16:colId xmlns:a16="http://schemas.microsoft.com/office/drawing/2014/main" val="2160227159"/>
                    </a:ext>
                  </a:extLst>
                </a:gridCol>
                <a:gridCol w="2430004">
                  <a:extLst>
                    <a:ext uri="{9D8B030D-6E8A-4147-A177-3AD203B41FA5}">
                      <a16:colId xmlns:a16="http://schemas.microsoft.com/office/drawing/2014/main" val="1264800166"/>
                    </a:ext>
                  </a:extLst>
                </a:gridCol>
              </a:tblGrid>
              <a:tr h="659311">
                <a:tc>
                  <a:txBody>
                    <a:bodyPr/>
                    <a:lstStyle/>
                    <a:p>
                      <a:r>
                        <a:rPr lang="en-IN" dirty="0"/>
                        <a:t>               </a:t>
                      </a:r>
                      <a:r>
                        <a:rPr lang="en-IN" sz="2000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            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2000" dirty="0"/>
                        <a:t>What It Represents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            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944107"/>
                  </a:ext>
                </a:extLst>
              </a:tr>
              <a:tr h="730975">
                <a:tc>
                  <a:txBody>
                    <a:bodyPr/>
                    <a:lstStyle/>
                    <a:p>
                      <a:r>
                        <a:rPr lang="en-IN" dirty="0"/>
                        <a:t>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</a:t>
                      </a:r>
                      <a:r>
                        <a:rPr lang="en-IN" b="1" dirty="0"/>
                        <a:t> BRD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Overall </a:t>
                      </a:r>
                      <a:r>
                        <a:rPr lang="en-IN" sz="1500" b="1" dirty="0"/>
                        <a:t>Business </a:t>
                      </a:r>
                      <a:r>
                        <a:rPr lang="en-IN" sz="1500" dirty="0"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Need An </a:t>
                      </a:r>
                      <a:r>
                        <a:rPr lang="en-IN" sz="1500" b="1" dirty="0"/>
                        <a:t>Online Conference Room </a:t>
                      </a:r>
                      <a:r>
                        <a:rPr lang="en-IN" sz="1500" dirty="0"/>
                        <a:t>Booking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495442"/>
                  </a:ext>
                </a:extLst>
              </a:tr>
              <a:tr h="651771">
                <a:tc>
                  <a:txBody>
                    <a:bodyPr/>
                    <a:lstStyle/>
                    <a:p>
                      <a:r>
                        <a:rPr lang="en-IN" dirty="0"/>
                        <a:t>             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</a:t>
                      </a:r>
                      <a:r>
                        <a:rPr lang="en-IN" b="1" dirty="0"/>
                        <a:t>Epic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Large Feature </a:t>
                      </a:r>
                      <a:r>
                        <a:rPr lang="en-IN" dirty="0"/>
                        <a:t>Or Business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Conference Room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58302"/>
                  </a:ext>
                </a:extLst>
              </a:tr>
              <a:tr h="1127023">
                <a:tc>
                  <a:txBody>
                    <a:bodyPr/>
                    <a:lstStyle/>
                    <a:p>
                      <a:r>
                        <a:rPr lang="en-IN" dirty="0"/>
                        <a:t>               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</a:t>
                      </a:r>
                      <a:r>
                        <a:rPr lang="en-IN" b="1" dirty="0"/>
                        <a:t>User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Specific requirement </a:t>
                      </a:r>
                      <a:r>
                        <a:rPr lang="en-IN" dirty="0"/>
                        <a:t>from user perspective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As an employee </a:t>
                      </a:r>
                      <a:r>
                        <a:rPr lang="en-IN" sz="1600" b="1" dirty="0"/>
                        <a:t>want to book a conference room for conducting meetings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485295"/>
                  </a:ext>
                </a:extLst>
              </a:tr>
              <a:tr h="896187">
                <a:tc>
                  <a:txBody>
                    <a:bodyPr/>
                    <a:lstStyle/>
                    <a:p>
                      <a:r>
                        <a:rPr lang="en-IN" dirty="0"/>
                        <a:t>               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             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Specific</a:t>
                      </a:r>
                      <a:r>
                        <a:rPr lang="en-IN" dirty="0"/>
                        <a:t> </a:t>
                      </a:r>
                      <a:r>
                        <a:rPr lang="en-IN" b="1" dirty="0"/>
                        <a:t>work needed</a:t>
                      </a:r>
                      <a:r>
                        <a:rPr lang="en-IN" dirty="0"/>
                        <a:t> to complete the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Create </a:t>
                      </a:r>
                      <a:r>
                        <a:rPr lang="en-IN" sz="1400" b="1" dirty="0"/>
                        <a:t>booking form and add room </a:t>
                      </a:r>
                      <a:r>
                        <a:rPr lang="en-IN" sz="1400" b="1" dirty="0" err="1"/>
                        <a:t>availability</a:t>
                      </a:r>
                      <a:r>
                        <a:rPr lang="en-IN" sz="1400" dirty="0" err="1"/>
                        <a:t>,confirmation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66567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lang="en-IN" dirty="0"/>
                        <a:t>              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</a:t>
                      </a:r>
                      <a:r>
                        <a:rPr lang="en-IN" b="1" dirty="0"/>
                        <a:t>Sub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Smaller step </a:t>
                      </a:r>
                      <a:r>
                        <a:rPr lang="en-IN" dirty="0"/>
                        <a:t>within a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Design Booking </a:t>
                      </a:r>
                      <a:r>
                        <a:rPr lang="en-IN" dirty="0"/>
                        <a:t>from 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509038"/>
                  </a:ext>
                </a:extLst>
              </a:tr>
            </a:tbl>
          </a:graphicData>
        </a:graphic>
      </p:graphicFrame>
      <p:pic>
        <p:nvPicPr>
          <p:cNvPr id="8" name="Picture 7" descr="Requirements Illustration Images, Free Download">
            <a:extLst>
              <a:ext uri="{FF2B5EF4-FFF2-40B4-BE49-F238E27FC236}">
                <a16:creationId xmlns:a16="http://schemas.microsoft.com/office/drawing/2014/main" id="{9ED20AF9-B142-E0FA-F6ED-32D22887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672" y="266700"/>
            <a:ext cx="1153662" cy="115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58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F8D7-40A2-50B1-611A-B6CFAC6C4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52401"/>
            <a:ext cx="10504714" cy="669018"/>
          </a:xfrm>
        </p:spPr>
        <p:txBody>
          <a:bodyPr>
            <a:normAutofit fontScale="90000"/>
          </a:bodyPr>
          <a:lstStyle/>
          <a:p>
            <a:r>
              <a:rPr lang="en-IN" dirty="0"/>
              <a:t>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BRD: (Business requirement Document)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C7425-208D-4DC9-ED8D-353CDB997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821419"/>
            <a:ext cx="11190514" cy="588418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                 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6B8E84B-4B3A-57F1-A6AA-3BC236A9780E}"/>
              </a:ext>
            </a:extLst>
          </p:cNvPr>
          <p:cNvSpPr/>
          <p:nvPr/>
        </p:nvSpPr>
        <p:spPr>
          <a:xfrm>
            <a:off x="6025240" y="1347461"/>
            <a:ext cx="225875" cy="3473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023D1B-1709-9AF0-C22F-2144F1DA1D70}"/>
              </a:ext>
            </a:extLst>
          </p:cNvPr>
          <p:cNvSpPr/>
          <p:nvPr/>
        </p:nvSpPr>
        <p:spPr>
          <a:xfrm>
            <a:off x="4952999" y="876870"/>
            <a:ext cx="2492830" cy="4605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00"/>
                </a:solidFill>
              </a:rPr>
              <a:t>Problem Statement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DA4FE-B2A5-C020-80ED-0E8ABEDAECF9}"/>
              </a:ext>
            </a:extLst>
          </p:cNvPr>
          <p:cNvSpPr/>
          <p:nvPr/>
        </p:nvSpPr>
        <p:spPr>
          <a:xfrm>
            <a:off x="4952998" y="1694833"/>
            <a:ext cx="2492831" cy="3918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Purpose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0FDDE64-15F8-2196-5C41-5301AB76D76F}"/>
              </a:ext>
            </a:extLst>
          </p:cNvPr>
          <p:cNvSpPr/>
          <p:nvPr/>
        </p:nvSpPr>
        <p:spPr>
          <a:xfrm>
            <a:off x="5996668" y="2065799"/>
            <a:ext cx="205464" cy="3306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69629E-ADD7-6ABE-3848-86422BF17E16}"/>
              </a:ext>
            </a:extLst>
          </p:cNvPr>
          <p:cNvSpPr/>
          <p:nvPr/>
        </p:nvSpPr>
        <p:spPr>
          <a:xfrm>
            <a:off x="4952998" y="2371298"/>
            <a:ext cx="2539089" cy="3844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Background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CDCFD41-A7CE-8820-073E-7A5C0628673D}"/>
              </a:ext>
            </a:extLst>
          </p:cNvPr>
          <p:cNvSpPr/>
          <p:nvPr/>
        </p:nvSpPr>
        <p:spPr>
          <a:xfrm>
            <a:off x="5962652" y="2834236"/>
            <a:ext cx="255810" cy="3376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0D37AB-C085-B95D-9528-74BA6C9F764A}"/>
              </a:ext>
            </a:extLst>
          </p:cNvPr>
          <p:cNvSpPr/>
          <p:nvPr/>
        </p:nvSpPr>
        <p:spPr>
          <a:xfrm>
            <a:off x="4906740" y="3159627"/>
            <a:ext cx="2539089" cy="440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Business Objectives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31EDA69-0C33-D643-6549-FC5C95E0C2A3}"/>
              </a:ext>
            </a:extLst>
          </p:cNvPr>
          <p:cNvSpPr/>
          <p:nvPr/>
        </p:nvSpPr>
        <p:spPr>
          <a:xfrm>
            <a:off x="5957206" y="3660355"/>
            <a:ext cx="236763" cy="2847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C95878-88B2-BE0C-148E-C3FE6E065EBC}"/>
              </a:ext>
            </a:extLst>
          </p:cNvPr>
          <p:cNvSpPr/>
          <p:nvPr/>
        </p:nvSpPr>
        <p:spPr>
          <a:xfrm>
            <a:off x="4829855" y="3928330"/>
            <a:ext cx="2539089" cy="4174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Scope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4B852AA-FB16-A9DA-6B4A-363084DEC0CC}"/>
              </a:ext>
            </a:extLst>
          </p:cNvPr>
          <p:cNvSpPr/>
          <p:nvPr/>
        </p:nvSpPr>
        <p:spPr>
          <a:xfrm>
            <a:off x="5905489" y="4358502"/>
            <a:ext cx="261257" cy="3190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50138B-F642-1640-0340-28CC5FCDD8F5}"/>
              </a:ext>
            </a:extLst>
          </p:cNvPr>
          <p:cNvSpPr/>
          <p:nvPr/>
        </p:nvSpPr>
        <p:spPr>
          <a:xfrm>
            <a:off x="4669285" y="4674491"/>
            <a:ext cx="2860227" cy="4567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Functional Requirement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5D91E64-9834-6A5A-FB37-2A36D43F4867}"/>
              </a:ext>
            </a:extLst>
          </p:cNvPr>
          <p:cNvSpPr/>
          <p:nvPr/>
        </p:nvSpPr>
        <p:spPr>
          <a:xfrm>
            <a:off x="5893252" y="5142336"/>
            <a:ext cx="244925" cy="3336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298755-535D-EAE0-9901-57336FAD42DD}"/>
              </a:ext>
            </a:extLst>
          </p:cNvPr>
          <p:cNvSpPr/>
          <p:nvPr/>
        </p:nvSpPr>
        <p:spPr>
          <a:xfrm>
            <a:off x="4669284" y="5469953"/>
            <a:ext cx="2860227" cy="5111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Assumptions &amp; constraints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4E856C1-9D23-8B89-8609-8CED4A6AD8DC}"/>
              </a:ext>
            </a:extLst>
          </p:cNvPr>
          <p:cNvSpPr/>
          <p:nvPr/>
        </p:nvSpPr>
        <p:spPr>
          <a:xfrm>
            <a:off x="5881017" y="5981129"/>
            <a:ext cx="257160" cy="2684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FCFA2-7369-5206-619B-0EC197016981}"/>
              </a:ext>
            </a:extLst>
          </p:cNvPr>
          <p:cNvSpPr/>
          <p:nvPr/>
        </p:nvSpPr>
        <p:spPr>
          <a:xfrm>
            <a:off x="4615199" y="6249556"/>
            <a:ext cx="2914312" cy="4939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Stakeholder &amp; Sign Off</a:t>
            </a:r>
          </a:p>
        </p:txBody>
      </p:sp>
      <p:pic>
        <p:nvPicPr>
          <p:cNvPr id="20" name="Picture 19" descr="Requirements Illustration Images, Free Download">
            <a:extLst>
              <a:ext uri="{FF2B5EF4-FFF2-40B4-BE49-F238E27FC236}">
                <a16:creationId xmlns:a16="http://schemas.microsoft.com/office/drawing/2014/main" id="{F44F6B8F-88C6-2A36-F209-45B7FBFC7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986" y="2175159"/>
            <a:ext cx="1655762" cy="3202384"/>
          </a:xfrm>
          <a:prstGeom prst="rect">
            <a:avLst/>
          </a:prstGeom>
        </p:spPr>
      </p:pic>
      <p:pic>
        <p:nvPicPr>
          <p:cNvPr id="22" name="Picture 21" descr="Requirements Illustration Images, Free Download">
            <a:extLst>
              <a:ext uri="{FF2B5EF4-FFF2-40B4-BE49-F238E27FC236}">
                <a16:creationId xmlns:a16="http://schemas.microsoft.com/office/drawing/2014/main" id="{562ADE44-3E10-B217-65FC-D68E16400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386" y="2327559"/>
            <a:ext cx="1655762" cy="3202384"/>
          </a:xfrm>
          <a:prstGeom prst="rect">
            <a:avLst/>
          </a:prstGeom>
        </p:spPr>
      </p:pic>
      <p:pic>
        <p:nvPicPr>
          <p:cNvPr id="24" name="Picture 23" descr="Requirements Illustration Images, Free Download">
            <a:extLst>
              <a:ext uri="{FF2B5EF4-FFF2-40B4-BE49-F238E27FC236}">
                <a16:creationId xmlns:a16="http://schemas.microsoft.com/office/drawing/2014/main" id="{476A9B2B-14EC-6678-2FAD-F382C437E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660" y="2162317"/>
            <a:ext cx="1655762" cy="3202384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5F15C0BD-9C43-7A3F-C2F6-BA590D1041F1}"/>
              </a:ext>
            </a:extLst>
          </p:cNvPr>
          <p:cNvSpPr/>
          <p:nvPr/>
        </p:nvSpPr>
        <p:spPr>
          <a:xfrm>
            <a:off x="3159583" y="3387375"/>
            <a:ext cx="1055915" cy="2847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6790F2B0-9A21-2D78-C675-87B596395C7E}"/>
              </a:ext>
            </a:extLst>
          </p:cNvPr>
          <p:cNvSpPr/>
          <p:nvPr/>
        </p:nvSpPr>
        <p:spPr>
          <a:xfrm>
            <a:off x="8137071" y="3387375"/>
            <a:ext cx="1055915" cy="41533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1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931F-7CAA-6D7A-92D8-16D747532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6" y="365125"/>
            <a:ext cx="11114314" cy="625475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Problem-Statement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B3F93-5681-895A-6BBC-680B83275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9" y="1132114"/>
            <a:ext cx="6868885" cy="5246915"/>
          </a:xfrm>
        </p:spPr>
        <p:txBody>
          <a:bodyPr>
            <a:normAutofit fontScale="92500" lnSpcReduction="10000"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Brief:     </a:t>
            </a:r>
            <a:br>
              <a:rPr lang="en-IN" u="sng" dirty="0">
                <a:solidFill>
                  <a:schemeClr val="accent1"/>
                </a:solidFill>
              </a:rPr>
            </a:br>
            <a:br>
              <a:rPr lang="en-IN" dirty="0"/>
            </a:br>
            <a:r>
              <a:rPr lang="en-IN" sz="2000" dirty="0"/>
              <a:t>Employees often face difficulties when booking conference rooms because room availability is not always clear. Manual booking through emails, messages, or spreadsheets can result </a:t>
            </a:r>
            <a:r>
              <a:rPr lang="en-IN" sz="1800" dirty="0"/>
              <a:t>in </a:t>
            </a:r>
            <a:r>
              <a:rPr lang="en-IN" sz="1800" b="1" dirty="0"/>
              <a:t>double bookings, scheduling conflicts, and wasted time</a:t>
            </a:r>
            <a:r>
              <a:rPr lang="en-IN" sz="1800" dirty="0"/>
              <a:t>.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u="sng" dirty="0">
                <a:solidFill>
                  <a:schemeClr val="accent1"/>
                </a:solidFill>
              </a:rPr>
              <a:t>Example:</a:t>
            </a:r>
            <a:br>
              <a:rPr lang="en-IN" sz="1800" b="1" dirty="0"/>
            </a:br>
            <a:br>
              <a:rPr lang="en-IN" sz="1800" dirty="0"/>
            </a:br>
            <a:r>
              <a:rPr lang="en-IN" sz="1800" dirty="0"/>
              <a:t>Suppose </a:t>
            </a:r>
            <a:r>
              <a:rPr lang="en-IN" sz="1800" b="1" dirty="0"/>
              <a:t>Employee A</a:t>
            </a:r>
            <a:r>
              <a:rPr lang="en-IN" sz="1800" dirty="0"/>
              <a:t> wants to conduct a meeting from </a:t>
            </a:r>
            <a:r>
              <a:rPr lang="en-IN" sz="1800" b="1" dirty="0"/>
              <a:t>10:00 AM to 11:00 AM</a:t>
            </a:r>
            <a:r>
              <a:rPr lang="en-IN" sz="1800" dirty="0"/>
              <a:t>. They check with a team member and book </a:t>
            </a:r>
            <a:r>
              <a:rPr lang="en-IN" sz="1800" b="1" dirty="0"/>
              <a:t>Room A</a:t>
            </a:r>
            <a:r>
              <a:rPr lang="en-IN" sz="1800" dirty="0"/>
              <a:t> through email. Later, </a:t>
            </a:r>
            <a:r>
              <a:rPr lang="en-IN" sz="1800" b="1" dirty="0"/>
              <a:t>Employee B</a:t>
            </a:r>
            <a:r>
              <a:rPr lang="en-IN" sz="1800" dirty="0"/>
              <a:t> also books the same room for the same time because they were not aware of Employee A's booking.</a:t>
            </a:r>
          </a:p>
          <a:p>
            <a:r>
              <a:rPr lang="en-IN" sz="1800" b="1" u="sng" dirty="0">
                <a:solidFill>
                  <a:schemeClr val="accent1"/>
                </a:solidFill>
              </a:rPr>
              <a:t>Problem:</a:t>
            </a:r>
            <a:br>
              <a:rPr lang="en-IN" sz="1800" dirty="0"/>
            </a:br>
            <a:r>
              <a:rPr lang="en-IN" sz="1800" dirty="0"/>
              <a:t>There is no single, centralized way to </a:t>
            </a:r>
            <a:r>
              <a:rPr lang="en-IN" sz="1800" b="1" dirty="0"/>
              <a:t>view real-time room availability and manage bookings</a:t>
            </a:r>
            <a:r>
              <a:rPr lang="en-IN" sz="1800" dirty="0"/>
              <a:t>.</a:t>
            </a:r>
            <a:br>
              <a:rPr lang="en-IN" sz="1800" dirty="0"/>
            </a:br>
            <a:endParaRPr lang="en-IN" sz="1800" dirty="0"/>
          </a:p>
          <a:p>
            <a:r>
              <a:rPr lang="en-IN" sz="1800" b="1" u="sng" dirty="0">
                <a:solidFill>
                  <a:schemeClr val="accent1"/>
                </a:solidFill>
              </a:rPr>
              <a:t>Proposed Need:</a:t>
            </a:r>
            <a:br>
              <a:rPr lang="en-IN" sz="1800" dirty="0"/>
            </a:br>
            <a:r>
              <a:rPr lang="en-IN" sz="1800" dirty="0"/>
              <a:t>A conference room booking system where employees can </a:t>
            </a:r>
            <a:r>
              <a:rPr lang="en-IN" sz="1800" b="1" dirty="0"/>
              <a:t>check availability, book rooms, modify/cancel bookings, and receive confirmation</a:t>
            </a:r>
            <a:r>
              <a:rPr lang="en-IN" sz="1800" dirty="0"/>
              <a:t>, while preventing double bookings.</a:t>
            </a:r>
          </a:p>
          <a:p>
            <a:endParaRPr lang="en-IN" sz="1800" dirty="0"/>
          </a:p>
        </p:txBody>
      </p:sp>
      <p:pic>
        <p:nvPicPr>
          <p:cNvPr id="4" name="Picture 3" descr="Best Meeting Room Booking Software for 2026 Compared">
            <a:extLst>
              <a:ext uri="{FF2B5EF4-FFF2-40B4-BE49-F238E27FC236}">
                <a16:creationId xmlns:a16="http://schemas.microsoft.com/office/drawing/2014/main" id="{1B1EC035-BD16-0AE2-BEE0-70312B337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852" y="1567542"/>
            <a:ext cx="4612091" cy="4495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46961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FE92-7437-4300-48F9-EC08E316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3242"/>
            <a:ext cx="10515600" cy="995589"/>
          </a:xfrm>
        </p:spPr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05977-E8C2-195B-0CB5-B6D11BF6F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1052740"/>
            <a:ext cx="11179629" cy="562201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IN" u="sng" dirty="0">
                <a:solidFill>
                  <a:schemeClr val="accent3"/>
                </a:solidFill>
              </a:rPr>
              <a:t>Brief:</a:t>
            </a:r>
            <a:br>
              <a:rPr lang="en-IN" dirty="0"/>
            </a:br>
            <a:br>
              <a:rPr lang="en-IN" dirty="0"/>
            </a:br>
            <a:r>
              <a:rPr lang="en-IN" sz="2400" dirty="0"/>
              <a:t>To provide employees with a simple and efficient way to book conference rooms based on availability, date, time, and meeting requirements.</a:t>
            </a:r>
            <a:br>
              <a:rPr lang="en-IN" dirty="0"/>
            </a:br>
            <a:endParaRPr lang="en-IN" dirty="0"/>
          </a:p>
          <a:p>
            <a:pPr lvl="0"/>
            <a:r>
              <a:rPr lang="en-IN" sz="3200" u="sng" dirty="0">
                <a:solidFill>
                  <a:schemeClr val="accent3"/>
                </a:solidFill>
              </a:rPr>
              <a:t>.</a:t>
            </a:r>
            <a:r>
              <a:rPr lang="en-IN" u="sng" dirty="0">
                <a:solidFill>
                  <a:schemeClr val="accent3"/>
                </a:solidFill>
              </a:rPr>
              <a:t>Point-Wise:</a:t>
            </a:r>
            <a:br>
              <a:rPr lang="en-IN" u="sng" dirty="0">
                <a:solidFill>
                  <a:schemeClr val="accent3"/>
                </a:solidFill>
              </a:rPr>
            </a:br>
            <a:br>
              <a:rPr lang="en-IN" dirty="0"/>
            </a:br>
            <a:r>
              <a:rPr lang="en-IN" sz="2400" b="1" dirty="0"/>
              <a:t>Centralize</a:t>
            </a:r>
            <a:r>
              <a:rPr lang="en-IN" sz="2400" dirty="0"/>
              <a:t> the conference room booking process. </a:t>
            </a:r>
          </a:p>
          <a:p>
            <a:pPr lvl="0"/>
            <a:r>
              <a:rPr lang="en-IN" sz="2400" dirty="0"/>
              <a:t>Provide </a:t>
            </a:r>
            <a:r>
              <a:rPr lang="en-IN" sz="2400" b="1" dirty="0"/>
              <a:t>real-time room availability</a:t>
            </a:r>
            <a:r>
              <a:rPr lang="en-IN" sz="2400" dirty="0"/>
              <a:t> to employees. </a:t>
            </a:r>
          </a:p>
          <a:p>
            <a:pPr lvl="0"/>
            <a:r>
              <a:rPr lang="en-IN" sz="2400" dirty="0"/>
              <a:t>Enable users to </a:t>
            </a:r>
            <a:r>
              <a:rPr lang="en-IN" sz="2400" b="1" dirty="0"/>
              <a:t>book, modify, and cancel</a:t>
            </a:r>
            <a:r>
              <a:rPr lang="en-IN" sz="2400" dirty="0"/>
              <a:t> room reservations easily. </a:t>
            </a:r>
          </a:p>
          <a:p>
            <a:pPr lvl="0"/>
            <a:r>
              <a:rPr lang="en-IN" sz="2400" b="1" dirty="0"/>
              <a:t>Prevent double bookings</a:t>
            </a:r>
            <a:r>
              <a:rPr lang="en-IN" sz="2400" dirty="0"/>
              <a:t> and scheduling conflicts. </a:t>
            </a:r>
          </a:p>
          <a:p>
            <a:pPr lvl="0"/>
            <a:r>
              <a:rPr lang="en-IN" sz="2400" b="1" dirty="0"/>
              <a:t>Save time and improve room utilization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  <p:pic>
        <p:nvPicPr>
          <p:cNvPr id="5" name="Picture 4" descr="Requirements Illustration Images, Free Download">
            <a:extLst>
              <a:ext uri="{FF2B5EF4-FFF2-40B4-BE49-F238E27FC236}">
                <a16:creationId xmlns:a16="http://schemas.microsoft.com/office/drawing/2014/main" id="{2D404C1A-909F-581D-2874-4B57E42E0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414" y="2904773"/>
            <a:ext cx="1655762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17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228C6-F776-41C6-BC79-B74389ABE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71" y="158296"/>
            <a:ext cx="9938657" cy="777875"/>
          </a:xfrm>
        </p:spPr>
        <p:txBody>
          <a:bodyPr/>
          <a:lstStyle/>
          <a:p>
            <a:r>
              <a:rPr lang="en-IN" dirty="0"/>
              <a:t>                    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5147-A212-747B-950E-056F2ECC8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3" y="936170"/>
            <a:ext cx="11310257" cy="576353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lvl="0"/>
            <a:r>
              <a:rPr lang="en-IN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Brief:</a:t>
            </a:r>
            <a:br>
              <a:rPr lang="en-IN" dirty="0"/>
            </a:br>
            <a:br>
              <a:rPr lang="en-IN" dirty="0"/>
            </a:br>
            <a:r>
              <a:rPr lang="en-IN" sz="2400" dirty="0"/>
              <a:t>Currently, employees may depend on manual communication, emails, or checking room availability separately, which can lead to double bookings, delays, and difficulty finding suitable rooms.</a:t>
            </a:r>
            <a:br>
              <a:rPr lang="en-IN" dirty="0"/>
            </a:br>
            <a:br>
              <a:rPr lang="en-IN" dirty="0"/>
            </a:br>
            <a:r>
              <a:rPr lang="en-IN" sz="3200" dirty="0"/>
              <a:t>.</a:t>
            </a:r>
            <a:r>
              <a:rPr lang="en-IN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Point-wise:</a:t>
            </a:r>
            <a:br>
              <a:rPr lang="en-IN" dirty="0"/>
            </a:br>
            <a:br>
              <a:rPr lang="en-IN" dirty="0"/>
            </a:br>
            <a:r>
              <a:rPr lang="en-IN" sz="2400" dirty="0"/>
              <a:t>Conference rooms are frequently required for </a:t>
            </a:r>
            <a:r>
              <a:rPr lang="en-IN" sz="2400" b="1" dirty="0"/>
              <a:t>team meetings, client discussions, interviews, and presentations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Employees may currently use </a:t>
            </a:r>
            <a:r>
              <a:rPr lang="en-IN" sz="2400" b="1" dirty="0"/>
              <a:t>emails, chats, calendars, or manual methods</a:t>
            </a:r>
            <a:r>
              <a:rPr lang="en-IN" sz="2400" dirty="0"/>
              <a:t> to reserve rooms. </a:t>
            </a:r>
          </a:p>
          <a:p>
            <a:pPr lvl="0"/>
            <a:r>
              <a:rPr lang="en-IN" sz="2400" dirty="0"/>
              <a:t>There may be </a:t>
            </a:r>
            <a:r>
              <a:rPr lang="en-IN" sz="2400" b="1" dirty="0"/>
              <a:t>no single centralized view</a:t>
            </a:r>
            <a:r>
              <a:rPr lang="en-IN" sz="2400" dirty="0"/>
              <a:t> of all room availability. </a:t>
            </a:r>
          </a:p>
          <a:p>
            <a:pPr lvl="0"/>
            <a:r>
              <a:rPr lang="en-IN" sz="2400" dirty="0"/>
              <a:t>Employees may spend time </a:t>
            </a:r>
            <a:r>
              <a:rPr lang="en-IN" sz="2400" b="1" dirty="0"/>
              <a:t>checking with others before booking a room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Multiple employees can unknowingly request the </a:t>
            </a:r>
            <a:r>
              <a:rPr lang="en-IN" sz="2400" b="1" dirty="0"/>
              <a:t>same room for the same time slot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  <p:pic>
        <p:nvPicPr>
          <p:cNvPr id="5" name="Picture 4" descr="Requirements Illustration Images, Free Download">
            <a:extLst>
              <a:ext uri="{FF2B5EF4-FFF2-40B4-BE49-F238E27FC236}">
                <a16:creationId xmlns:a16="http://schemas.microsoft.com/office/drawing/2014/main" id="{D750DFA1-9C33-6E6C-4FEC-B5F8763DC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699" y="2272947"/>
            <a:ext cx="1246415" cy="124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4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399D-FA00-DA88-82D0-92323364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841"/>
            <a:ext cx="10515600" cy="1137104"/>
          </a:xfrm>
        </p:spPr>
        <p:txBody>
          <a:bodyPr/>
          <a:lstStyle/>
          <a:p>
            <a:r>
              <a:rPr lang="en-IN" dirty="0"/>
              <a:t>         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Business-Objectives: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EE167-DE4D-738A-3306-4AC22011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8" y="1128939"/>
            <a:ext cx="11081658" cy="55272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                                              • </a:t>
            </a:r>
            <a:r>
              <a:rPr lang="en-IN" sz="2400" i="1" dirty="0"/>
              <a:t>Reduce double bookings</a:t>
            </a:r>
            <a:br>
              <a:rPr lang="en-IN" dirty="0"/>
            </a:br>
            <a:r>
              <a:rPr lang="en-IN" dirty="0"/>
              <a:t>                                                   • </a:t>
            </a:r>
            <a:r>
              <a:rPr lang="en-IN" sz="2400" i="1" dirty="0"/>
              <a:t>Improve room utilization</a:t>
            </a:r>
            <a:br>
              <a:rPr lang="en-IN" dirty="0"/>
            </a:br>
            <a:r>
              <a:rPr lang="en-IN" dirty="0"/>
              <a:t>                                                   • </a:t>
            </a:r>
            <a:r>
              <a:rPr lang="en-IN" sz="2400" i="1" dirty="0"/>
              <a:t>Save employees' time</a:t>
            </a:r>
            <a:br>
              <a:rPr lang="en-IN" dirty="0"/>
            </a:br>
            <a:r>
              <a:rPr lang="en-IN" dirty="0"/>
              <a:t>                                                   • </a:t>
            </a:r>
            <a:r>
              <a:rPr lang="en-IN" sz="2400" i="1" dirty="0"/>
              <a:t>Provide real-time room availability</a:t>
            </a:r>
            <a:br>
              <a:rPr lang="en-IN" dirty="0"/>
            </a:br>
            <a:r>
              <a:rPr lang="en-IN" dirty="0"/>
              <a:t>                                                   • </a:t>
            </a:r>
            <a:r>
              <a:rPr lang="en-IN" sz="2400" i="1" dirty="0"/>
              <a:t>Make the booking process simple </a:t>
            </a:r>
          </a:p>
        </p:txBody>
      </p:sp>
      <p:pic>
        <p:nvPicPr>
          <p:cNvPr id="4" name="Picture 3" descr="How to Avoid Double Booking Meeting Rooms ( Best Scheduling )">
            <a:extLst>
              <a:ext uri="{FF2B5EF4-FFF2-40B4-BE49-F238E27FC236}">
                <a16:creationId xmlns:a16="http://schemas.microsoft.com/office/drawing/2014/main" id="{454A1263-8785-AFCF-161D-04EA32BA3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46" y="1513116"/>
            <a:ext cx="3204483" cy="3204483"/>
          </a:xfrm>
          <a:prstGeom prst="rect">
            <a:avLst/>
          </a:prstGeom>
        </p:spPr>
      </p:pic>
      <p:pic>
        <p:nvPicPr>
          <p:cNvPr id="5" name="Picture 4" descr="7 Big Benefits of a Meeting Room Booking System | Robin">
            <a:extLst>
              <a:ext uri="{FF2B5EF4-FFF2-40B4-BE49-F238E27FC236}">
                <a16:creationId xmlns:a16="http://schemas.microsoft.com/office/drawing/2014/main" id="{8C18F748-EC9B-9B5C-11AE-6D22C3E06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890" y="4480656"/>
            <a:ext cx="3150275" cy="17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34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635E-E3D8-A7B0-6FCA-699B88FA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6226"/>
            <a:ext cx="9906000" cy="754631"/>
          </a:xfrm>
        </p:spPr>
        <p:txBody>
          <a:bodyPr/>
          <a:lstStyle/>
          <a:p>
            <a:r>
              <a:rPr lang="en-IN" dirty="0"/>
              <a:t>              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Scope-IN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3B3D9-6DC1-97EA-2E01-B77B4E42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0857"/>
            <a:ext cx="11114314" cy="578031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                                         </a:t>
            </a:r>
            <a:r>
              <a:rPr lang="en-IN" sz="2400" dirty="0"/>
              <a:t>•</a:t>
            </a:r>
            <a:r>
              <a:rPr lang="en-IN" dirty="0"/>
              <a:t> </a:t>
            </a:r>
            <a:r>
              <a:rPr lang="en-IN" sz="2400" dirty="0"/>
              <a:t>View available conference rooms</a:t>
            </a:r>
            <a:br>
              <a:rPr lang="en-IN" dirty="0"/>
            </a:br>
            <a:r>
              <a:rPr lang="en-IN" dirty="0"/>
              <a:t>                                         </a:t>
            </a:r>
            <a:r>
              <a:rPr lang="en-IN" sz="2400" dirty="0"/>
              <a:t>• Check room availability by date/time</a:t>
            </a:r>
            <a:br>
              <a:rPr lang="en-IN" dirty="0"/>
            </a:br>
            <a:r>
              <a:rPr lang="en-IN" dirty="0"/>
              <a:t>                                         </a:t>
            </a:r>
            <a:r>
              <a:rPr lang="en-IN" sz="2400" dirty="0"/>
              <a:t>•</a:t>
            </a:r>
            <a:r>
              <a:rPr lang="en-IN" dirty="0"/>
              <a:t> </a:t>
            </a:r>
            <a:r>
              <a:rPr lang="en-IN" sz="2400" dirty="0"/>
              <a:t>Book a room</a:t>
            </a:r>
            <a:br>
              <a:rPr lang="en-IN" dirty="0"/>
            </a:br>
            <a:r>
              <a:rPr lang="en-IN" dirty="0"/>
              <a:t>                                         </a:t>
            </a:r>
            <a:r>
              <a:rPr lang="en-IN" sz="2400" dirty="0"/>
              <a:t>• Cancel or modify a booking</a:t>
            </a:r>
            <a:br>
              <a:rPr lang="en-IN" dirty="0"/>
            </a:br>
            <a:r>
              <a:rPr lang="en-IN" dirty="0"/>
              <a:t>                                         </a:t>
            </a:r>
            <a:r>
              <a:rPr lang="en-IN" sz="2400" dirty="0"/>
              <a:t>• Receive booking confirmation</a:t>
            </a:r>
            <a:br>
              <a:rPr lang="en-IN" dirty="0"/>
            </a:br>
            <a:r>
              <a:rPr lang="en-IN" dirty="0"/>
              <a:t>                                         </a:t>
            </a:r>
            <a:r>
              <a:rPr lang="en-IN" sz="2400" dirty="0"/>
              <a:t>• View existing bookings</a:t>
            </a:r>
          </a:p>
        </p:txBody>
      </p:sp>
      <p:pic>
        <p:nvPicPr>
          <p:cNvPr id="4" name="Picture 3" descr="How to Truly Book a Meeting Room with Microsoft Outlook">
            <a:extLst>
              <a:ext uri="{FF2B5EF4-FFF2-40B4-BE49-F238E27FC236}">
                <a16:creationId xmlns:a16="http://schemas.microsoft.com/office/drawing/2014/main" id="{DBDF021E-7694-55FD-C887-EF5205B73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41922"/>
            <a:ext cx="3015343" cy="2319092"/>
          </a:xfrm>
          <a:prstGeom prst="rect">
            <a:avLst/>
          </a:prstGeom>
        </p:spPr>
      </p:pic>
      <p:pic>
        <p:nvPicPr>
          <p:cNvPr id="5" name="Picture 4" descr="Meeting Room Booking System &amp; Software | Book free demo">
            <a:extLst>
              <a:ext uri="{FF2B5EF4-FFF2-40B4-BE49-F238E27FC236}">
                <a16:creationId xmlns:a16="http://schemas.microsoft.com/office/drawing/2014/main" id="{C591FBC6-5997-7D64-0C05-629DF2094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053" y="3910693"/>
            <a:ext cx="3414032" cy="22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01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D8EE-7134-350B-1095-1F1157E9A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298"/>
            <a:ext cx="9927771" cy="723446"/>
          </a:xfrm>
        </p:spPr>
        <p:txBody>
          <a:bodyPr/>
          <a:lstStyle/>
          <a:p>
            <a:r>
              <a:rPr lang="en-IN" dirty="0"/>
              <a:t>             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Scope-scope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94B6B-BFFF-1CDB-C0A8-3F5F1FDF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881744"/>
            <a:ext cx="11266714" cy="581795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   </a:t>
            </a:r>
            <a:r>
              <a:rPr lang="en-IN" sz="2400" i="1" dirty="0"/>
              <a:t>• Managing office infrastructure</a:t>
            </a:r>
            <a:br>
              <a:rPr lang="en-IN" dirty="0"/>
            </a:br>
            <a:r>
              <a:rPr lang="en-IN" sz="2400" i="1" dirty="0"/>
              <a:t>                                                  • Physical room maintenance</a:t>
            </a:r>
            <a:br>
              <a:rPr lang="en-IN" dirty="0"/>
            </a:br>
            <a:r>
              <a:rPr lang="en-IN" dirty="0"/>
              <a:t>                                           </a:t>
            </a:r>
            <a:r>
              <a:rPr lang="en-IN" sz="2400" i="1" dirty="0"/>
              <a:t>• Employee attendance tracking</a:t>
            </a:r>
            <a:br>
              <a:rPr lang="en-IN" dirty="0"/>
            </a:br>
            <a:r>
              <a:rPr lang="en-IN" dirty="0"/>
              <a:t>                                           </a:t>
            </a:r>
            <a:r>
              <a:rPr lang="en-IN" sz="2400" i="1" dirty="0"/>
              <a:t>• Managing external venue bookings</a:t>
            </a:r>
          </a:p>
        </p:txBody>
      </p:sp>
      <p:pic>
        <p:nvPicPr>
          <p:cNvPr id="4" name="Picture 3" descr="How to Effectively Manage Employee Attendance: Best Practices">
            <a:extLst>
              <a:ext uri="{FF2B5EF4-FFF2-40B4-BE49-F238E27FC236}">
                <a16:creationId xmlns:a16="http://schemas.microsoft.com/office/drawing/2014/main" id="{18DC35DC-5835-95B9-16A1-B4F3C74A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57" y="1605190"/>
            <a:ext cx="2449286" cy="1373990"/>
          </a:xfrm>
          <a:prstGeom prst="rect">
            <a:avLst/>
          </a:prstGeom>
        </p:spPr>
      </p:pic>
      <p:pic>
        <p:nvPicPr>
          <p:cNvPr id="5" name="Picture 4" descr="Essentials of Employee Attendance Management: A Quick Guide">
            <a:extLst>
              <a:ext uri="{FF2B5EF4-FFF2-40B4-BE49-F238E27FC236}">
                <a16:creationId xmlns:a16="http://schemas.microsoft.com/office/drawing/2014/main" id="{5DA6E6B1-ECC7-6B97-A194-12D7E000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482" y="3529693"/>
            <a:ext cx="3228975" cy="2152650"/>
          </a:xfrm>
          <a:prstGeom prst="rect">
            <a:avLst/>
          </a:prstGeom>
        </p:spPr>
      </p:pic>
      <p:pic>
        <p:nvPicPr>
          <p:cNvPr id="6" name="Picture 5" descr="How to Track Employee Daily Attendance in the Office: A Practical HR Guide">
            <a:extLst>
              <a:ext uri="{FF2B5EF4-FFF2-40B4-BE49-F238E27FC236}">
                <a16:creationId xmlns:a16="http://schemas.microsoft.com/office/drawing/2014/main" id="{96A1CDA1-A80B-B3EE-B473-63013A258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3702626"/>
            <a:ext cx="2167096" cy="263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48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4DAB-C0F9-9827-F921-D5E5878A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614" y="188685"/>
            <a:ext cx="10308771" cy="984704"/>
          </a:xfrm>
        </p:spPr>
        <p:txBody>
          <a:bodyPr/>
          <a:lstStyle/>
          <a:p>
            <a:r>
              <a:rPr lang="en-IN" dirty="0"/>
              <a:t>          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Functional-Requirements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AA026-38C8-F8E1-D65E-E23AC3573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5" y="1074511"/>
            <a:ext cx="11195958" cy="559480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br>
              <a:rPr lang="en-IN" dirty="0"/>
            </a:br>
            <a:r>
              <a:rPr lang="en-IN" u="sng" dirty="0">
                <a:solidFill>
                  <a:srgbClr val="7030A0"/>
                </a:solidFill>
              </a:rPr>
              <a:t>Brief: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              </a:t>
            </a:r>
            <a:r>
              <a:rPr lang="en-IN" sz="2400" i="1" dirty="0"/>
              <a:t>• System should allow employees to search for available rooms.</a:t>
            </a:r>
            <a:br>
              <a:rPr lang="en-IN" dirty="0"/>
            </a:br>
            <a:r>
              <a:rPr lang="en-IN" dirty="0"/>
              <a:t>              </a:t>
            </a:r>
            <a:r>
              <a:rPr lang="en-IN" sz="2400" i="1" dirty="0"/>
              <a:t>• System should allow users to select date and time.</a:t>
            </a:r>
            <a:br>
              <a:rPr lang="en-IN" dirty="0"/>
            </a:br>
            <a:r>
              <a:rPr lang="en-IN" sz="2400" dirty="0"/>
              <a:t>                 • System should prevent double booking.</a:t>
            </a:r>
            <a:br>
              <a:rPr lang="en-IN" dirty="0"/>
            </a:br>
            <a:r>
              <a:rPr lang="en-IN" sz="2400" i="1" dirty="0"/>
              <a:t>                 • System should allow booking cancellation/modification.</a:t>
            </a:r>
            <a:br>
              <a:rPr lang="en-IN" sz="2400" i="1" dirty="0"/>
            </a:br>
            <a:r>
              <a:rPr lang="en-IN" dirty="0"/>
              <a:t>              </a:t>
            </a:r>
            <a:r>
              <a:rPr lang="en-IN" sz="2400" i="1" dirty="0"/>
              <a:t>• System should send booking confirmation.</a:t>
            </a:r>
            <a:br>
              <a:rPr lang="en-IN" sz="2400" i="1" dirty="0"/>
            </a:br>
            <a:r>
              <a:rPr lang="en-IN" dirty="0"/>
              <a:t>              </a:t>
            </a:r>
            <a:r>
              <a:rPr lang="en-IN" sz="2400" i="1" dirty="0"/>
              <a:t>• System should maintain booking details.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603BE-F8C5-4A0B-FA05-99EB0C4B9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099" y="4380821"/>
            <a:ext cx="3592286" cy="196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0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EFA6-E1BA-5C79-B4A0-C65A2B3CE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899"/>
            <a:ext cx="10515600" cy="930275"/>
          </a:xfrm>
        </p:spPr>
        <p:txBody>
          <a:bodyPr/>
          <a:lstStyle/>
          <a:p>
            <a:r>
              <a:rPr lang="en-IN" dirty="0"/>
              <a:t>     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Assumptions &amp;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31B3B-E3E3-136C-56D4-C29175F37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0081"/>
            <a:ext cx="11179629" cy="562201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sz="2000" u="sng" dirty="0">
                <a:solidFill>
                  <a:schemeClr val="accent5">
                    <a:lumMod val="50000"/>
                  </a:schemeClr>
                </a:solidFill>
              </a:rPr>
              <a:t>Brief: (Assumption)</a:t>
            </a:r>
            <a:br>
              <a:rPr lang="en-IN" sz="2000" u="sng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IN" sz="2000" u="sng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sz="2000" i="1" dirty="0"/>
              <a:t>Employees have valid company accounts; room information is already available in the system.</a:t>
            </a:r>
          </a:p>
          <a:p>
            <a:pPr lvl="0"/>
            <a:endParaRPr lang="en-IN" sz="2000" i="1" u="sng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IN" sz="2000" i="1" u="sng" dirty="0">
                <a:solidFill>
                  <a:schemeClr val="accent5">
                    <a:lumMod val="50000"/>
                  </a:schemeClr>
                </a:solidFill>
              </a:rPr>
              <a:t>Brief:   (Constraints)</a:t>
            </a:r>
          </a:p>
          <a:p>
            <a:pPr lvl="0"/>
            <a:r>
              <a:rPr lang="en-IN" sz="2000" dirty="0"/>
              <a:t>Only authorized employees can book rooms; a room cannot have multiple bookings for the same time slot.</a:t>
            </a:r>
            <a:endParaRPr lang="en-IN" sz="2000" i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8894C0-0E10-94C3-3C6F-5E8452378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299148"/>
              </p:ext>
            </p:extLst>
          </p:nvPr>
        </p:nvGraphicFramePr>
        <p:xfrm>
          <a:off x="1727201" y="3647923"/>
          <a:ext cx="91585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29">
                  <a:extLst>
                    <a:ext uri="{9D8B030D-6E8A-4147-A177-3AD203B41FA5}">
                      <a16:colId xmlns:a16="http://schemas.microsoft.com/office/drawing/2014/main" val="2652736231"/>
                    </a:ext>
                  </a:extLst>
                </a:gridCol>
                <a:gridCol w="2228299">
                  <a:extLst>
                    <a:ext uri="{9D8B030D-6E8A-4147-A177-3AD203B41FA5}">
                      <a16:colId xmlns:a16="http://schemas.microsoft.com/office/drawing/2014/main" val="3191793845"/>
                    </a:ext>
                  </a:extLst>
                </a:gridCol>
                <a:gridCol w="2350957">
                  <a:extLst>
                    <a:ext uri="{9D8B030D-6E8A-4147-A177-3AD203B41FA5}">
                      <a16:colId xmlns:a16="http://schemas.microsoft.com/office/drawing/2014/main" val="1635551304"/>
                    </a:ext>
                  </a:extLst>
                </a:gridCol>
                <a:gridCol w="2289629">
                  <a:extLst>
                    <a:ext uri="{9D8B030D-6E8A-4147-A177-3AD203B41FA5}">
                      <a16:colId xmlns:a16="http://schemas.microsoft.com/office/drawing/2014/main" val="3164092577"/>
                    </a:ext>
                  </a:extLst>
                </a:gridCol>
              </a:tblGrid>
              <a:tr h="496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Assumptions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Explanation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17225"/>
                  </a:ext>
                </a:extLst>
              </a:tr>
              <a:tr h="921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Employees have valid company accounts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Users are expected to have authorized accounts to access the booking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Only authorized employees can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External users or unauthorized employees cannot make bookings.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234175"/>
                  </a:ext>
                </a:extLst>
              </a:tr>
              <a:tr h="921411">
                <a:tc>
                  <a:txBody>
                    <a:bodyPr/>
                    <a:lstStyle/>
                    <a:p>
                      <a:r>
                        <a:rPr lang="en-IN" dirty="0"/>
                        <a:t>Room information is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 such as room name, capacity,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number of conference 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system can only manage rooms that are registered in the organization.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54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091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60EA-FC18-7A64-F534-72AEE7E3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1" y="136525"/>
            <a:ext cx="10319657" cy="854075"/>
          </a:xfrm>
        </p:spPr>
        <p:txBody>
          <a:bodyPr/>
          <a:lstStyle/>
          <a:p>
            <a:r>
              <a:rPr lang="en-IN" dirty="0"/>
              <a:t>             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Stakeholders &amp; Sign-off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FEA1A-5AB8-878F-7D7C-53BA4C931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990599"/>
            <a:ext cx="11201401" cy="573087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Brief</a:t>
            </a:r>
            <a:r>
              <a:rPr lang="en-IN" u="sng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:  (Stakeholders):</a:t>
            </a:r>
            <a:br>
              <a:rPr lang="en-IN" u="sng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</a:br>
            <a:br>
              <a:rPr lang="en-IN" u="sng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</a:br>
            <a:r>
              <a:rPr lang="en-IN" sz="2400" i="1" dirty="0"/>
              <a:t>Employees, Team Leads/Managers, Admin/Facilities Team, IT Team, Business Analyst, Project Manager.</a:t>
            </a:r>
            <a:br>
              <a:rPr lang="en-IN" sz="2400" i="1" dirty="0"/>
            </a:br>
            <a:br>
              <a:rPr lang="en-IN" sz="2400" i="1" dirty="0"/>
            </a:br>
            <a:r>
              <a:rPr lang="en-IN" sz="2400" i="1" u="sng" dirty="0">
                <a:solidFill>
                  <a:schemeClr val="accent2">
                    <a:lumMod val="50000"/>
                  </a:schemeClr>
                </a:solidFill>
              </a:rPr>
              <a:t>Brief: (Signoff):</a:t>
            </a:r>
            <a:br>
              <a:rPr lang="en-IN" sz="2400" i="1" u="sng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IN" sz="2400" i="1" u="sng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IN" sz="2400" i="1" dirty="0"/>
              <a:t>Business Owner / Project Manager / relevant stakeholders approve the BRD before development begins.</a:t>
            </a:r>
            <a:endParaRPr lang="en-IN" sz="2400" i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320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4F5D-2A1D-1608-F52E-521C53F95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40"/>
            <a:ext cx="10515600" cy="1147990"/>
          </a:xfrm>
        </p:spPr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From BRD to Epic, User Stories &amp;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BB0D-A25D-EE2B-5012-9A6EF7956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6281"/>
            <a:ext cx="11081657" cy="550046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IN" b="1" u="sng" dirty="0">
                <a:solidFill>
                  <a:schemeClr val="accent2">
                    <a:lumMod val="50000"/>
                  </a:schemeClr>
                </a:solidFill>
              </a:rPr>
              <a:t>  </a:t>
            </a:r>
            <a:r>
              <a:rPr lang="en-IN" b="1" u="sng" dirty="0">
                <a:solidFill>
                  <a:srgbClr val="0070C0"/>
                </a:solidFill>
              </a:rPr>
              <a:t>1. Epic:</a:t>
            </a:r>
            <a:br>
              <a:rPr lang="en-IN" b="1" u="sng" dirty="0">
                <a:solidFill>
                  <a:srgbClr val="0070C0"/>
                </a:solidFill>
              </a:rPr>
            </a:br>
            <a:br>
              <a:rPr lang="en-IN" b="1" u="sng" dirty="0">
                <a:solidFill>
                  <a:srgbClr val="0070C0"/>
                </a:solidFill>
              </a:rPr>
            </a:br>
            <a:r>
              <a:rPr lang="en-IN" sz="2400" b="1" i="1" dirty="0"/>
              <a:t>Epic</a:t>
            </a:r>
            <a:r>
              <a:rPr lang="en-IN" sz="2400" i="1" dirty="0"/>
              <a:t>: Centralized Conference Room Booking Management</a:t>
            </a:r>
            <a:br>
              <a:rPr lang="en-IN" sz="2400" i="1" dirty="0"/>
            </a:br>
            <a:br>
              <a:rPr lang="en-IN" sz="2400" i="1" dirty="0"/>
            </a:br>
            <a:r>
              <a:rPr lang="en-IN" sz="2400" b="1" i="1" dirty="0"/>
              <a:t>DESC</a:t>
            </a:r>
            <a:r>
              <a:rPr lang="en-IN" sz="2400" i="1" dirty="0"/>
              <a:t>: Enable employees to efficiently find, book, modify, and cancel conference rooms through a centralized system while preventing double bookings and scheduling conflicts.</a:t>
            </a:r>
            <a:br>
              <a:rPr lang="en-IN" sz="2400" i="1" dirty="0"/>
            </a:br>
            <a:br>
              <a:rPr lang="en-IN" sz="2400" i="1" dirty="0"/>
            </a:br>
            <a:r>
              <a:rPr lang="en-IN" sz="2400" b="1" i="1" dirty="0"/>
              <a:t>                       USER</a:t>
            </a:r>
            <a:br>
              <a:rPr lang="en-IN" sz="2400" i="1" dirty="0"/>
            </a:br>
            <a:endParaRPr lang="en-IN" sz="2400" i="1" u="sng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52010-A556-7BE1-6D18-F9962C42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3695019"/>
            <a:ext cx="5519057" cy="30128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Picture 6" descr="Requirements Illustration Images, Free Download">
            <a:extLst>
              <a:ext uri="{FF2B5EF4-FFF2-40B4-BE49-F238E27FC236}">
                <a16:creationId xmlns:a16="http://schemas.microsoft.com/office/drawing/2014/main" id="{BD8D18E2-DE21-B59A-DC43-D8C1E8857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927" y="4230737"/>
            <a:ext cx="2160815" cy="216081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F277EB1-2032-84F3-28B9-6191C556CC3F}"/>
              </a:ext>
            </a:extLst>
          </p:cNvPr>
          <p:cNvSpPr/>
          <p:nvPr/>
        </p:nvSpPr>
        <p:spPr>
          <a:xfrm>
            <a:off x="4125686" y="5029200"/>
            <a:ext cx="762000" cy="4027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68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E289-721E-A50F-C5A4-12C07D630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68000" cy="908504"/>
          </a:xfrm>
        </p:spPr>
        <p:txBody>
          <a:bodyPr/>
          <a:lstStyle/>
          <a:p>
            <a:r>
              <a:rPr lang="en-IN" dirty="0"/>
              <a:t>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 the Epic into User Stories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6672D2-FD89-2796-EE6D-06933B0A35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273390"/>
              </p:ext>
            </p:extLst>
          </p:nvPr>
        </p:nvGraphicFramePr>
        <p:xfrm>
          <a:off x="838200" y="1825625"/>
          <a:ext cx="686888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4443">
                  <a:extLst>
                    <a:ext uri="{9D8B030D-6E8A-4147-A177-3AD203B41FA5}">
                      <a16:colId xmlns:a16="http://schemas.microsoft.com/office/drawing/2014/main" val="973060147"/>
                    </a:ext>
                  </a:extLst>
                </a:gridCol>
                <a:gridCol w="3434443">
                  <a:extLst>
                    <a:ext uri="{9D8B030D-6E8A-4147-A177-3AD203B41FA5}">
                      <a16:colId xmlns:a16="http://schemas.microsoft.com/office/drawing/2014/main" val="587561778"/>
                    </a:ext>
                  </a:extLst>
                </a:gridCol>
              </a:tblGrid>
              <a:tr h="404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                 User 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                                        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367139"/>
                  </a:ext>
                </a:extLst>
              </a:tr>
              <a:tr h="998227">
                <a:tc>
                  <a:txBody>
                    <a:bodyPr/>
                    <a:lstStyle/>
                    <a:p>
                      <a:r>
                        <a:rPr lang="en-IN" b="1" dirty="0"/>
                        <a:t>US-01: View Room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 an employee, I want to view available conference rooms based on date and time so that I can select a suitable room for my meeting.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256048"/>
                  </a:ext>
                </a:extLst>
              </a:tr>
              <a:tr h="998227">
                <a:tc>
                  <a:txBody>
                    <a:bodyPr/>
                    <a:lstStyle/>
                    <a:p>
                      <a:r>
                        <a:rPr lang="en-IN" b="1" dirty="0"/>
                        <a:t>US-02: Book a Conference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 an employee, I want to book an available conference room by providing meeting details so that I can reserve the room for my meeting.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625572"/>
                  </a:ext>
                </a:extLst>
              </a:tr>
              <a:tr h="998227">
                <a:tc>
                  <a:txBody>
                    <a:bodyPr/>
                    <a:lstStyle/>
                    <a:p>
                      <a:r>
                        <a:rPr lang="en-IN" b="1" dirty="0"/>
                        <a:t>US-03: Manage My 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 an employee, I want to modify or cancel my existing booking so that I can manage changes to my meeting schedule.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46719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93C5A15-F0A5-5E0D-CA07-8E480A433448}"/>
              </a:ext>
            </a:extLst>
          </p:cNvPr>
          <p:cNvSpPr/>
          <p:nvPr/>
        </p:nvSpPr>
        <p:spPr>
          <a:xfrm>
            <a:off x="8577943" y="1959429"/>
            <a:ext cx="2601686" cy="52251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View Room Availability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USER-1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5A0DA7A-0474-4163-6F78-25D63E607306}"/>
              </a:ext>
            </a:extLst>
          </p:cNvPr>
          <p:cNvSpPr/>
          <p:nvPr/>
        </p:nvSpPr>
        <p:spPr>
          <a:xfrm>
            <a:off x="9612085" y="2481943"/>
            <a:ext cx="326572" cy="5225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634F6-09D8-895F-1659-2258C443C2BD}"/>
              </a:ext>
            </a:extLst>
          </p:cNvPr>
          <p:cNvSpPr/>
          <p:nvPr/>
        </p:nvSpPr>
        <p:spPr>
          <a:xfrm>
            <a:off x="8479972" y="3004457"/>
            <a:ext cx="2699657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Book a conference room</a:t>
            </a:r>
            <a:br>
              <a:rPr lang="en-IN" dirty="0"/>
            </a:br>
            <a:r>
              <a:rPr lang="en-IN" dirty="0"/>
              <a:t>User-2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BA127E0-5A7D-2300-60AA-A5069DE3FBFA}"/>
              </a:ext>
            </a:extLst>
          </p:cNvPr>
          <p:cNvSpPr/>
          <p:nvPr/>
        </p:nvSpPr>
        <p:spPr>
          <a:xfrm>
            <a:off x="9573985" y="3517266"/>
            <a:ext cx="364672" cy="5322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3EA26-AC5D-A73B-93AD-1E5A5EF9DC9D}"/>
              </a:ext>
            </a:extLst>
          </p:cNvPr>
          <p:cNvSpPr/>
          <p:nvPr/>
        </p:nvSpPr>
        <p:spPr>
          <a:xfrm>
            <a:off x="8550728" y="4093028"/>
            <a:ext cx="2558143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Manage My Booking</a:t>
            </a:r>
            <a:br>
              <a:rPr lang="en-IN" dirty="0"/>
            </a:br>
            <a:r>
              <a:rPr lang="en-IN" dirty="0"/>
              <a:t>User-3</a:t>
            </a:r>
          </a:p>
        </p:txBody>
      </p:sp>
    </p:spTree>
    <p:extLst>
      <p:ext uri="{BB962C8B-B14F-4D97-AF65-F5344CB8AC3E}">
        <p14:creationId xmlns:p14="http://schemas.microsoft.com/office/powerpoint/2010/main" val="2913643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6441F-4DB5-9C54-A5AF-6926DA46C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646"/>
          </a:xfrm>
        </p:spPr>
        <p:txBody>
          <a:bodyPr/>
          <a:lstStyle/>
          <a:p>
            <a:r>
              <a:rPr lang="en-IN" dirty="0"/>
              <a:t>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 One User Story into 3 Tasks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89E1F9-E8EF-433F-E8E9-FFFB110832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484600"/>
              </p:ext>
            </p:extLst>
          </p:nvPr>
        </p:nvGraphicFramePr>
        <p:xfrm>
          <a:off x="870857" y="1825625"/>
          <a:ext cx="7195457" cy="425377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86703">
                  <a:extLst>
                    <a:ext uri="{9D8B030D-6E8A-4147-A177-3AD203B41FA5}">
                      <a16:colId xmlns:a16="http://schemas.microsoft.com/office/drawing/2014/main" val="654251400"/>
                    </a:ext>
                  </a:extLst>
                </a:gridCol>
                <a:gridCol w="3608754">
                  <a:extLst>
                    <a:ext uri="{9D8B030D-6E8A-4147-A177-3AD203B41FA5}">
                      <a16:colId xmlns:a16="http://schemas.microsoft.com/office/drawing/2014/main" val="3608303222"/>
                    </a:ext>
                  </a:extLst>
                </a:gridCol>
              </a:tblGrid>
              <a:tr h="972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                                             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</a:t>
                      </a:r>
                      <a:br>
                        <a:rPr lang="en-IN" dirty="0"/>
                      </a:br>
                      <a:r>
                        <a:rPr lang="en-IN" sz="2400" dirty="0"/>
                        <a:t>                             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79996"/>
                  </a:ext>
                </a:extLst>
              </a:tr>
              <a:tr h="810286">
                <a:tc>
                  <a:txBody>
                    <a:bodyPr/>
                    <a:lstStyle/>
                    <a:p>
                      <a:r>
                        <a:rPr lang="en-IN" sz="2400" b="1" dirty="0"/>
                        <a:t>Task 1: Create Booking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Create a form to capture date, time, room, meeting title, and other required details.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658418"/>
                  </a:ext>
                </a:extLst>
              </a:tr>
              <a:tr h="1053372">
                <a:tc>
                  <a:txBody>
                    <a:bodyPr/>
                    <a:lstStyle/>
                    <a:p>
                      <a:r>
                        <a:rPr lang="en-IN" sz="2400" b="1" dirty="0"/>
                        <a:t>Task 2: Implement Availability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Check whether the selected room is available for the requested date and time and prevent double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153377"/>
                  </a:ext>
                </a:extLst>
              </a:tr>
              <a:tr h="1053372">
                <a:tc>
                  <a:txBody>
                    <a:bodyPr/>
                    <a:lstStyle/>
                    <a:p>
                      <a:r>
                        <a:rPr lang="en-IN" sz="2400" b="1" dirty="0"/>
                        <a:t>Task 3: Implement Booking Confirmation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Save the booking and display/send a confirmation to the employee.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49392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3901519-AA16-3287-723E-769D7F8FD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114" y="1744257"/>
            <a:ext cx="3744686" cy="42537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59356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F23B-987D-BA4F-968E-5E3A75AC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                         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 hierarchy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7755F6-A308-9676-D8BC-57CDA9D2B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630" y="1294012"/>
            <a:ext cx="11092542" cy="533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79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88B3E-0B84-5906-B3D4-16C01792C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705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sz="4000" dirty="0"/>
            </a:br>
            <a:br>
              <a:rPr lang="en-IN" sz="4000" dirty="0"/>
            </a:br>
            <a:br>
              <a:rPr lang="en-IN" sz="4000" dirty="0"/>
            </a:br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</a:t>
            </a:r>
            <a:r>
              <a:rPr lang="en-IN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073961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1191</Words>
  <Application>Microsoft Office PowerPoint</Application>
  <PresentationFormat>Widescreen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BRD, Epics &amp; User Stories: A Business Analysis Overview</vt:lpstr>
      <vt:lpstr>                 Overview Of Requirements:</vt:lpstr>
      <vt:lpstr>     1.BRD: (Business requirement Document)</vt:lpstr>
      <vt:lpstr>                                Problem-Statement</vt:lpstr>
      <vt:lpstr>                                       Purpose</vt:lpstr>
      <vt:lpstr>                                   Background</vt:lpstr>
      <vt:lpstr>                        Business-Objectives:</vt:lpstr>
      <vt:lpstr>                               Scope-IN Scope</vt:lpstr>
      <vt:lpstr>                            Scope-scope out</vt:lpstr>
      <vt:lpstr>                         Functional-Requirements</vt:lpstr>
      <vt:lpstr>                    Assumptions &amp; Constraints</vt:lpstr>
      <vt:lpstr>                            Stakeholders &amp; Sign-off</vt:lpstr>
      <vt:lpstr>     From BRD to Epic, User Stories &amp; Tasks</vt:lpstr>
      <vt:lpstr>              Break the Epic into User Stories</vt:lpstr>
      <vt:lpstr>               Break One User Story into 3 Tasks</vt:lpstr>
      <vt:lpstr>                                   Overall hierarchy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 Jain</dc:creator>
  <cp:lastModifiedBy>Krish Jain</cp:lastModifiedBy>
  <cp:revision>1</cp:revision>
  <dcterms:created xsi:type="dcterms:W3CDTF">2026-08-15T05:56:26Z</dcterms:created>
  <dcterms:modified xsi:type="dcterms:W3CDTF">2026-08-15T14:17:00Z</dcterms:modified>
</cp:coreProperties>
</file>